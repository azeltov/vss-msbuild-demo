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7" r:id="rId4"/>
    <p:sldId id="266" r:id="rId5"/>
    <p:sldId id="258" r:id="rId6"/>
    <p:sldId id="260" r:id="rId7"/>
    <p:sldId id="259" r:id="rId8"/>
    <p:sldId id="261" r:id="rId9"/>
    <p:sldId id="262" r:id="rId10"/>
    <p:sldId id="263" r:id="rId11"/>
    <p:sldId id="264" r:id="rId12"/>
    <p:sldId id="265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108"/>
    <p:restoredTop sz="94597"/>
  </p:normalViewPr>
  <p:slideViewPr>
    <p:cSldViewPr snapToGrid="0" snapToObjects="1">
      <p:cViewPr varScale="1">
        <p:scale>
          <a:sx n="278" d="100"/>
          <a:sy n="278" d="100"/>
        </p:scale>
        <p:origin x="1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3021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Demo on Microsoft Foundry using NVIDIA VSS Blueprint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7781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76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76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Claims Triage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Foundry hosted agent orchestrating NVIDIA VSS Blueprint on AKS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E1369FBE-B997-9891-A08D-17AC10F25502}"/>
              </a:ext>
            </a:extLst>
          </p:cNvPr>
          <p:cNvSpPr/>
          <p:nvPr/>
        </p:nvSpPr>
        <p:spPr>
          <a:xfrm>
            <a:off x="457200" y="18973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AI Demo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76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Claims Triage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58952"/>
            <a:ext cx="914400" cy="228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49460" y="1034699"/>
            <a:ext cx="5120640" cy="77724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49460" y="1034699"/>
            <a:ext cx="73152" cy="777240"/>
          </a:xfrm>
          <a:prstGeom prst="rect">
            <a:avLst/>
          </a:prstGeom>
          <a:solidFill>
            <a:srgbClr val="76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2340" y="1107851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customer-rep UI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2340" y="1418747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rep uploads a damage video → orchestrator agent fires 4 tools  → draft PDF in under a minute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9460" y="1921667"/>
            <a:ext cx="5120640" cy="77724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9460" y="1921667"/>
            <a:ext cx="73152" cy="777240"/>
          </a:xfrm>
          <a:prstGeom prst="rect">
            <a:avLst/>
          </a:prstGeom>
          <a:solidFill>
            <a:srgbClr val="76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2340" y="1994819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Foundry hosted agent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2340" y="2305715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gpt-4.1/nemotron-3- super-120 · Microsoft Agent Framework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9460" y="2808635"/>
            <a:ext cx="5120640" cy="77724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49460" y="2808635"/>
            <a:ext cx="73152" cy="777240"/>
          </a:xfrm>
          <a:prstGeom prst="rect">
            <a:avLst/>
          </a:prstGeom>
          <a:solidFill>
            <a:srgbClr val="76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32340" y="2881787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VSS Blueprint as a Specialized Agent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2340" y="3192683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cosmos-reason2-8b (VLM) + nemotron-nano-9b (LLM) on AKS (4× A100 80GB)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1422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1929C76-AD48-E6F0-4669-B30BFE31FA7C}"/>
              </a:ext>
            </a:extLst>
          </p:cNvPr>
          <p:cNvSpPr>
            <a:spLocks noGrp="1"/>
          </p:cNvSpPr>
          <p:nvPr/>
        </p:nvSpPr>
        <p:spPr>
          <a:xfrm>
            <a:off x="5529263" y="2670904"/>
            <a:ext cx="2828925" cy="671513"/>
          </a:xfrm>
          <a:prstGeom prst="rect">
            <a:avLst/>
          </a:prstGeom>
          <a:solidFill>
            <a:srgbClr val="76B900"/>
          </a:solidFill>
          <a:ln w="9525">
            <a:solidFill>
              <a:srgbClr val="76B900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E2570F-3353-8927-8564-8C0699AF712A}"/>
              </a:ext>
            </a:extLst>
          </p:cNvPr>
          <p:cNvSpPr>
            <a:spLocks noGrp="1"/>
          </p:cNvSpPr>
          <p:nvPr/>
        </p:nvSpPr>
        <p:spPr>
          <a:xfrm>
            <a:off x="5643563" y="2756629"/>
            <a:ext cx="2600325" cy="10001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638" b="1">
                <a:solidFill>
                  <a:srgbClr val="65B9F4"/>
                </a:solidFill>
                <a:latin typeface="Avenir Next"/>
                <a:ea typeface="Avenir Next"/>
                <a:cs typeface="Avenir Next"/>
              </a:defRPr>
            </a:pPr>
            <a:r>
              <a:rPr sz="479" b="1" dirty="0">
                <a:solidFill>
                  <a:schemeClr val="bg1"/>
                </a:solidFill>
                <a:latin typeface="Avenir Next"/>
                <a:ea typeface="Avenir Next"/>
                <a:cs typeface="Avenir Next"/>
              </a:rPr>
              <a:t>MICROSOFT FOUNDRY · AGENT FRAMEWORK · GPT-4.1</a:t>
            </a:r>
            <a:r>
              <a:rPr lang="en-US" sz="479" b="1" dirty="0">
                <a:solidFill>
                  <a:schemeClr val="bg1"/>
                </a:solidFill>
                <a:latin typeface="Avenir Next"/>
                <a:ea typeface="Avenir Next"/>
                <a:cs typeface="Avenir Next"/>
              </a:rPr>
              <a:t>/Nemotron-3-Super-120</a:t>
            </a:r>
            <a:endParaRPr sz="479" b="1" dirty="0">
              <a:solidFill>
                <a:schemeClr val="bg1"/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3BC739A-A053-BC16-32AB-932E15ADA896}"/>
              </a:ext>
            </a:extLst>
          </p:cNvPr>
          <p:cNvSpPr>
            <a:spLocks noGrp="1"/>
          </p:cNvSpPr>
          <p:nvPr/>
        </p:nvSpPr>
        <p:spPr>
          <a:xfrm>
            <a:off x="5643563" y="2885217"/>
            <a:ext cx="2600325" cy="3714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1A1F2E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1013" b="1" dirty="0">
                <a:solidFill>
                  <a:srgbClr val="1A1F2E"/>
                </a:solidFill>
                <a:latin typeface="Avenir Next"/>
                <a:ea typeface="Avenir Next"/>
                <a:cs typeface="Avenir Next"/>
              </a:rPr>
              <a:t>Orchestrator Agent</a:t>
            </a:r>
          </a:p>
          <a:p>
            <a:pPr algn="ctr">
              <a:defRPr sz="1350" b="1">
                <a:solidFill>
                  <a:srgbClr val="1A1F2E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1013" b="1" dirty="0">
                <a:solidFill>
                  <a:srgbClr val="1A1F2E"/>
                </a:solidFill>
                <a:latin typeface="Avenir Next"/>
                <a:ea typeface="Avenir Next"/>
                <a:cs typeface="Avenir Next"/>
              </a:rPr>
              <a:t>insurance-claims-triage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9BB3F91-797B-ABFA-0888-44FC7F9D1FD0}"/>
              </a:ext>
            </a:extLst>
          </p:cNvPr>
          <p:cNvSpPr>
            <a:spLocks noGrp="1"/>
          </p:cNvSpPr>
          <p:nvPr/>
        </p:nvSpPr>
        <p:spPr>
          <a:xfrm>
            <a:off x="5820156" y="1656492"/>
            <a:ext cx="2028825" cy="500063"/>
          </a:xfrm>
          <a:prstGeom prst="rect">
            <a:avLst/>
          </a:prstGeom>
          <a:solidFill>
            <a:srgbClr val="1A1F2E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4398393-E4C6-93A7-BD63-457D0EF7E9A2}"/>
              </a:ext>
            </a:extLst>
          </p:cNvPr>
          <p:cNvSpPr>
            <a:spLocks noGrp="1"/>
          </p:cNvSpPr>
          <p:nvPr/>
        </p:nvSpPr>
        <p:spPr>
          <a:xfrm>
            <a:off x="5934456" y="1742217"/>
            <a:ext cx="1800225" cy="10001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638" b="1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479" b="1" dirty="0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STREAMLIT 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F870D20-238C-8592-D3DB-00BEC8913160}"/>
              </a:ext>
            </a:extLst>
          </p:cNvPr>
          <p:cNvSpPr>
            <a:spLocks noGrp="1"/>
          </p:cNvSpPr>
          <p:nvPr/>
        </p:nvSpPr>
        <p:spPr>
          <a:xfrm>
            <a:off x="5934456" y="1870805"/>
            <a:ext cx="1800225" cy="2000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125" b="1">
                <a:solidFill>
                  <a:srgbClr val="76B900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844" b="1">
                <a:solidFill>
                  <a:srgbClr val="76B900"/>
                </a:solidFill>
                <a:latin typeface="Avenir Next"/>
                <a:ea typeface="Avenir Next"/>
                <a:cs typeface="Avenir Next"/>
              </a:rPr>
              <a:t>Customer rep web UI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BC05907-29BF-FCA7-26AD-B4FEA29D839B}"/>
              </a:ext>
            </a:extLst>
          </p:cNvPr>
          <p:cNvSpPr>
            <a:spLocks noGrp="1"/>
          </p:cNvSpPr>
          <p:nvPr/>
        </p:nvSpPr>
        <p:spPr>
          <a:xfrm>
            <a:off x="6827425" y="2156555"/>
            <a:ext cx="14288" cy="428625"/>
          </a:xfrm>
          <a:prstGeom prst="rect">
            <a:avLst/>
          </a:prstGeom>
          <a:solidFill>
            <a:srgbClr val="0078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8E3D92-C5B1-8D6B-0A01-C79BA039CD6D}"/>
              </a:ext>
            </a:extLst>
          </p:cNvPr>
          <p:cNvSpPr>
            <a:spLocks noGrp="1"/>
          </p:cNvSpPr>
          <p:nvPr/>
        </p:nvSpPr>
        <p:spPr>
          <a:xfrm>
            <a:off x="6777419" y="2556604"/>
            <a:ext cx="114300" cy="1285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0078D4"/>
                </a:solidFill>
                <a:latin typeface="Avenir Next"/>
                <a:ea typeface="Avenir Next"/>
                <a:cs typeface="Avenir Next"/>
              </a:defRPr>
            </a:pPr>
            <a:r>
              <a:rPr sz="619" b="1">
                <a:solidFill>
                  <a:srgbClr val="0078D4"/>
                </a:solidFill>
                <a:latin typeface="Avenir Next"/>
                <a:ea typeface="Avenir Next"/>
                <a:cs typeface="Avenir Next"/>
              </a:rPr>
              <a:t>v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4FA46A-1AFC-139A-964A-BD84AC1C9C32}"/>
              </a:ext>
            </a:extLst>
          </p:cNvPr>
          <p:cNvSpPr>
            <a:spLocks noGrp="1"/>
          </p:cNvSpPr>
          <p:nvPr/>
        </p:nvSpPr>
        <p:spPr>
          <a:xfrm>
            <a:off x="6936581" y="3342416"/>
            <a:ext cx="14288" cy="471488"/>
          </a:xfrm>
          <a:prstGeom prst="rect">
            <a:avLst/>
          </a:prstGeom>
          <a:solidFill>
            <a:srgbClr val="0078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FAF174D-612D-FDE6-9C91-5DDF16552BE5}"/>
              </a:ext>
            </a:extLst>
          </p:cNvPr>
          <p:cNvSpPr>
            <a:spLocks noGrp="1"/>
          </p:cNvSpPr>
          <p:nvPr/>
        </p:nvSpPr>
        <p:spPr>
          <a:xfrm>
            <a:off x="6886575" y="3785329"/>
            <a:ext cx="114300" cy="1285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0078D4"/>
                </a:solidFill>
                <a:latin typeface="Avenir Next"/>
                <a:ea typeface="Avenir Next"/>
                <a:cs typeface="Avenir Next"/>
              </a:defRPr>
            </a:pPr>
            <a:r>
              <a:rPr sz="619" b="1">
                <a:solidFill>
                  <a:srgbClr val="0078D4"/>
                </a:solidFill>
                <a:latin typeface="Avenir Next"/>
                <a:ea typeface="Avenir Next"/>
                <a:cs typeface="Avenir Next"/>
              </a:rPr>
              <a:t>v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5A50C90-FE4D-013C-18AB-37BA5381709C}"/>
              </a:ext>
            </a:extLst>
          </p:cNvPr>
          <p:cNvSpPr>
            <a:spLocks noGrp="1"/>
          </p:cNvSpPr>
          <p:nvPr/>
        </p:nvSpPr>
        <p:spPr>
          <a:xfrm>
            <a:off x="3028950" y="4199667"/>
            <a:ext cx="1500188" cy="800100"/>
          </a:xfrm>
          <a:prstGeom prst="rect">
            <a:avLst/>
          </a:prstGeom>
          <a:solidFill>
            <a:srgbClr val="1A2E1A"/>
          </a:solidFill>
          <a:ln w="9525">
            <a:solidFill>
              <a:srgbClr val="76B900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DDA30DF-1323-E5D1-6717-9F0ACFDC4859}"/>
              </a:ext>
            </a:extLst>
          </p:cNvPr>
          <p:cNvSpPr>
            <a:spLocks noGrp="1"/>
          </p:cNvSpPr>
          <p:nvPr/>
        </p:nvSpPr>
        <p:spPr>
          <a:xfrm>
            <a:off x="3143250" y="4285391"/>
            <a:ext cx="1271588" cy="10001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638" b="1">
                <a:solidFill>
                  <a:srgbClr val="76B900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479" b="1" dirty="0">
                <a:solidFill>
                  <a:schemeClr val="bg1"/>
                </a:solidFill>
                <a:latin typeface="Avenir Next"/>
                <a:ea typeface="Avenir Next"/>
                <a:cs typeface="Avenir Next"/>
              </a:rPr>
              <a:t>NVIDIA VSS Tool 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8D72CD6-22B8-B5E8-49AB-E5C8F4A6B6A0}"/>
              </a:ext>
            </a:extLst>
          </p:cNvPr>
          <p:cNvSpPr>
            <a:spLocks noGrp="1"/>
          </p:cNvSpPr>
          <p:nvPr/>
        </p:nvSpPr>
        <p:spPr>
          <a:xfrm>
            <a:off x="3143250" y="4413979"/>
            <a:ext cx="1271588" cy="50006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76B900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900" b="1" dirty="0">
                <a:solidFill>
                  <a:srgbClr val="76B900"/>
                </a:solidFill>
                <a:latin typeface="Avenir Next"/>
                <a:ea typeface="Avenir Next"/>
                <a:cs typeface="Avenir Next"/>
              </a:rPr>
              <a:t>VSS Analysis</a:t>
            </a:r>
          </a:p>
          <a:p>
            <a:pPr algn="ctr">
              <a:defRPr sz="1200" b="1">
                <a:solidFill>
                  <a:srgbClr val="76B900"/>
                </a:solidFill>
                <a:latin typeface="Avenir Next"/>
                <a:ea typeface="Avenir Next"/>
                <a:cs typeface="Avenir Next"/>
              </a:defRPr>
            </a:pPr>
            <a:endParaRPr lang="en-US" sz="900" b="1" dirty="0">
              <a:solidFill>
                <a:srgbClr val="76B900"/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6DEC2D7-6176-2024-E02D-9AAE4C7F3347}"/>
              </a:ext>
            </a:extLst>
          </p:cNvPr>
          <p:cNvSpPr>
            <a:spLocks noGrp="1"/>
          </p:cNvSpPr>
          <p:nvPr/>
        </p:nvSpPr>
        <p:spPr>
          <a:xfrm>
            <a:off x="3779044" y="3892485"/>
            <a:ext cx="3100388" cy="14288"/>
          </a:xfrm>
          <a:prstGeom prst="rect">
            <a:avLst/>
          </a:prstGeom>
          <a:solidFill>
            <a:srgbClr val="76B9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670716-5622-BE9C-BED9-32529C9D41A6}"/>
              </a:ext>
            </a:extLst>
          </p:cNvPr>
          <p:cNvSpPr>
            <a:spLocks noGrp="1"/>
          </p:cNvSpPr>
          <p:nvPr/>
        </p:nvSpPr>
        <p:spPr>
          <a:xfrm>
            <a:off x="3771900" y="3899629"/>
            <a:ext cx="14288" cy="214313"/>
          </a:xfrm>
          <a:prstGeom prst="rect">
            <a:avLst/>
          </a:prstGeom>
          <a:solidFill>
            <a:srgbClr val="76B9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F3FBEE2-0694-C39D-7932-D6D29CF34673}"/>
              </a:ext>
            </a:extLst>
          </p:cNvPr>
          <p:cNvSpPr>
            <a:spLocks noGrp="1"/>
          </p:cNvSpPr>
          <p:nvPr/>
        </p:nvSpPr>
        <p:spPr>
          <a:xfrm>
            <a:off x="3721894" y="4085366"/>
            <a:ext cx="114300" cy="1285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76B900"/>
                </a:solidFill>
                <a:latin typeface="Avenir Next"/>
                <a:ea typeface="Avenir Next"/>
                <a:cs typeface="Avenir Next"/>
              </a:defRPr>
            </a:pPr>
            <a:r>
              <a:rPr sz="619" b="1">
                <a:solidFill>
                  <a:srgbClr val="76B900"/>
                </a:solidFill>
                <a:latin typeface="Avenir Next"/>
                <a:ea typeface="Avenir Next"/>
                <a:cs typeface="Avenir Next"/>
              </a:rPr>
              <a:t>v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14B5AE3-E830-9F0B-4EDB-22BA08B17357}"/>
              </a:ext>
            </a:extLst>
          </p:cNvPr>
          <p:cNvSpPr>
            <a:spLocks noGrp="1"/>
          </p:cNvSpPr>
          <p:nvPr/>
        </p:nvSpPr>
        <p:spPr>
          <a:xfrm>
            <a:off x="5100637" y="4385404"/>
            <a:ext cx="1071563" cy="542925"/>
          </a:xfrm>
          <a:prstGeom prst="rect">
            <a:avLst/>
          </a:prstGeom>
          <a:solidFill>
            <a:srgbClr val="1A1F2E"/>
          </a:solidFill>
          <a:ln w="9525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1E9ED65-E774-B4DA-4D2B-A7C3C5098118}"/>
              </a:ext>
            </a:extLst>
          </p:cNvPr>
          <p:cNvSpPr>
            <a:spLocks noGrp="1"/>
          </p:cNvSpPr>
          <p:nvPr/>
        </p:nvSpPr>
        <p:spPr>
          <a:xfrm>
            <a:off x="5214937" y="4471129"/>
            <a:ext cx="842963" cy="10001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638" b="1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479" b="1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BUSINESS TOOL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25369DB-E4B0-0409-1F6B-4440C53555E2}"/>
              </a:ext>
            </a:extLst>
          </p:cNvPr>
          <p:cNvSpPr>
            <a:spLocks noGrp="1"/>
          </p:cNvSpPr>
          <p:nvPr/>
        </p:nvSpPr>
        <p:spPr>
          <a:xfrm>
            <a:off x="5214937" y="4599716"/>
            <a:ext cx="842963" cy="2428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050" b="1">
                <a:solidFill>
                  <a:srgbClr val="76B900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788" b="1">
                <a:solidFill>
                  <a:srgbClr val="76B900"/>
                </a:solidFill>
                <a:latin typeface="Avenir Next"/>
                <a:ea typeface="Avenir Next"/>
                <a:cs typeface="Avenir Next"/>
              </a:rPr>
              <a:t>Policy DB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BCB40F7-81B1-1C3A-699C-5D73216A1FF6}"/>
              </a:ext>
            </a:extLst>
          </p:cNvPr>
          <p:cNvSpPr>
            <a:spLocks noGrp="1"/>
          </p:cNvSpPr>
          <p:nvPr/>
        </p:nvSpPr>
        <p:spPr>
          <a:xfrm>
            <a:off x="5636419" y="3892485"/>
            <a:ext cx="1243013" cy="14288"/>
          </a:xfrm>
          <a:prstGeom prst="rect">
            <a:avLst/>
          </a:prstGeom>
          <a:solidFill>
            <a:srgbClr val="0078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B497E3E-D950-6906-931E-25EFD2B24499}"/>
              </a:ext>
            </a:extLst>
          </p:cNvPr>
          <p:cNvSpPr>
            <a:spLocks noGrp="1"/>
          </p:cNvSpPr>
          <p:nvPr/>
        </p:nvSpPr>
        <p:spPr>
          <a:xfrm>
            <a:off x="5636419" y="3828192"/>
            <a:ext cx="128588" cy="142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050" b="1">
                <a:solidFill>
                  <a:srgbClr val="007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0078D4"/>
                </a:solidFill>
                <a:latin typeface="Avenir Next"/>
                <a:ea typeface="Avenir Next"/>
                <a:cs typeface="Avenir Next"/>
              </a:rPr>
              <a:t>&lt;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AED6FB4-2C29-F880-6517-13DF615D78D9}"/>
              </a:ext>
            </a:extLst>
          </p:cNvPr>
          <p:cNvSpPr>
            <a:spLocks noGrp="1"/>
          </p:cNvSpPr>
          <p:nvPr/>
        </p:nvSpPr>
        <p:spPr>
          <a:xfrm>
            <a:off x="5629275" y="3899629"/>
            <a:ext cx="14288" cy="400050"/>
          </a:xfrm>
          <a:prstGeom prst="rect">
            <a:avLst/>
          </a:prstGeom>
          <a:solidFill>
            <a:srgbClr val="0078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F4CD2B8-F293-08D9-9053-981E49F311C5}"/>
              </a:ext>
            </a:extLst>
          </p:cNvPr>
          <p:cNvSpPr>
            <a:spLocks noGrp="1"/>
          </p:cNvSpPr>
          <p:nvPr/>
        </p:nvSpPr>
        <p:spPr>
          <a:xfrm>
            <a:off x="5579269" y="4271104"/>
            <a:ext cx="114300" cy="1285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0078D4"/>
                </a:solidFill>
                <a:latin typeface="Avenir Next"/>
                <a:ea typeface="Avenir Next"/>
                <a:cs typeface="Avenir Next"/>
              </a:defRPr>
            </a:pPr>
            <a:r>
              <a:rPr sz="619" b="1">
                <a:solidFill>
                  <a:srgbClr val="0078D4"/>
                </a:solidFill>
                <a:latin typeface="Avenir Next"/>
                <a:ea typeface="Avenir Next"/>
                <a:cs typeface="Avenir Next"/>
              </a:rPr>
              <a:t>v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EB6A754-60F0-7E33-4DD0-510F9D6B7CBD}"/>
              </a:ext>
            </a:extLst>
          </p:cNvPr>
          <p:cNvSpPr>
            <a:spLocks noGrp="1"/>
          </p:cNvSpPr>
          <p:nvPr/>
        </p:nvSpPr>
        <p:spPr>
          <a:xfrm>
            <a:off x="6586537" y="4385404"/>
            <a:ext cx="1071563" cy="542925"/>
          </a:xfrm>
          <a:prstGeom prst="rect">
            <a:avLst/>
          </a:prstGeom>
          <a:solidFill>
            <a:srgbClr val="1A1F2E"/>
          </a:solidFill>
          <a:ln w="9525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271C500-A35A-CCAC-F619-1349325DD5E7}"/>
              </a:ext>
            </a:extLst>
          </p:cNvPr>
          <p:cNvSpPr>
            <a:spLocks noGrp="1"/>
          </p:cNvSpPr>
          <p:nvPr/>
        </p:nvSpPr>
        <p:spPr>
          <a:xfrm>
            <a:off x="6700837" y="4471129"/>
            <a:ext cx="842963" cy="10001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638" b="1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479" b="1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BUSINESS TOOL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C14D72F-59C5-CC24-EA93-7C0CCCAB7F57}"/>
              </a:ext>
            </a:extLst>
          </p:cNvPr>
          <p:cNvSpPr>
            <a:spLocks noGrp="1"/>
          </p:cNvSpPr>
          <p:nvPr/>
        </p:nvSpPr>
        <p:spPr>
          <a:xfrm>
            <a:off x="6700837" y="4599716"/>
            <a:ext cx="842963" cy="2428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050" b="1">
                <a:solidFill>
                  <a:srgbClr val="76B900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788" b="1" dirty="0">
                <a:solidFill>
                  <a:srgbClr val="76B900"/>
                </a:solidFill>
                <a:latin typeface="Avenir Next"/>
                <a:ea typeface="Avenir Next"/>
                <a:cs typeface="Avenir Next"/>
              </a:rPr>
              <a:t>Repair cost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A843EFD-DDDF-FC86-CC07-2C4352A14FA7}"/>
              </a:ext>
            </a:extLst>
          </p:cNvPr>
          <p:cNvSpPr>
            <a:spLocks noGrp="1"/>
          </p:cNvSpPr>
          <p:nvPr/>
        </p:nvSpPr>
        <p:spPr>
          <a:xfrm>
            <a:off x="6943725" y="3892485"/>
            <a:ext cx="114300" cy="14288"/>
          </a:xfrm>
          <a:prstGeom prst="rect">
            <a:avLst/>
          </a:prstGeom>
          <a:solidFill>
            <a:srgbClr val="0078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FF13727-B160-B507-2A40-00FF31D24838}"/>
              </a:ext>
            </a:extLst>
          </p:cNvPr>
          <p:cNvSpPr>
            <a:spLocks noGrp="1"/>
          </p:cNvSpPr>
          <p:nvPr/>
        </p:nvSpPr>
        <p:spPr>
          <a:xfrm>
            <a:off x="7058025" y="3828192"/>
            <a:ext cx="128588" cy="142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050" b="1">
                <a:solidFill>
                  <a:srgbClr val="007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0078D4"/>
                </a:solidFill>
                <a:latin typeface="Avenir Next"/>
                <a:ea typeface="Avenir Next"/>
                <a:cs typeface="Avenir Next"/>
              </a:rPr>
              <a:t>&gt;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0CF0F99-B8A5-9B39-CEC5-94B695159CDA}"/>
              </a:ext>
            </a:extLst>
          </p:cNvPr>
          <p:cNvSpPr>
            <a:spLocks noGrp="1"/>
          </p:cNvSpPr>
          <p:nvPr/>
        </p:nvSpPr>
        <p:spPr>
          <a:xfrm>
            <a:off x="7115175" y="3899629"/>
            <a:ext cx="14288" cy="400050"/>
          </a:xfrm>
          <a:prstGeom prst="rect">
            <a:avLst/>
          </a:prstGeom>
          <a:solidFill>
            <a:srgbClr val="0078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931194E-F355-9AAF-B533-F7BC937C0836}"/>
              </a:ext>
            </a:extLst>
          </p:cNvPr>
          <p:cNvSpPr>
            <a:spLocks noGrp="1"/>
          </p:cNvSpPr>
          <p:nvPr/>
        </p:nvSpPr>
        <p:spPr>
          <a:xfrm>
            <a:off x="7065169" y="4271104"/>
            <a:ext cx="114300" cy="1285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0078D4"/>
                </a:solidFill>
                <a:latin typeface="Avenir Next"/>
                <a:ea typeface="Avenir Next"/>
                <a:cs typeface="Avenir Next"/>
              </a:defRPr>
            </a:pPr>
            <a:r>
              <a:rPr sz="619" b="1">
                <a:solidFill>
                  <a:srgbClr val="0078D4"/>
                </a:solidFill>
                <a:latin typeface="Avenir Next"/>
                <a:ea typeface="Avenir Next"/>
                <a:cs typeface="Avenir Next"/>
              </a:rPr>
              <a:t>v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1FBCCFD-B712-C866-7803-C3390AC304D0}"/>
              </a:ext>
            </a:extLst>
          </p:cNvPr>
          <p:cNvSpPr>
            <a:spLocks noGrp="1"/>
          </p:cNvSpPr>
          <p:nvPr/>
        </p:nvSpPr>
        <p:spPr>
          <a:xfrm>
            <a:off x="8049577" y="4385404"/>
            <a:ext cx="1071563" cy="542925"/>
          </a:xfrm>
          <a:prstGeom prst="rect">
            <a:avLst/>
          </a:prstGeom>
          <a:solidFill>
            <a:srgbClr val="1A1F2E"/>
          </a:solidFill>
          <a:ln w="9525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D442C86-B748-A9B0-6B92-01C5D1AC539A}"/>
              </a:ext>
            </a:extLst>
          </p:cNvPr>
          <p:cNvSpPr>
            <a:spLocks noGrp="1"/>
          </p:cNvSpPr>
          <p:nvPr/>
        </p:nvSpPr>
        <p:spPr>
          <a:xfrm>
            <a:off x="8186737" y="4471129"/>
            <a:ext cx="842963" cy="10001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638" b="1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479" b="1" dirty="0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TOOL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9B830D4-888A-D366-653E-1E8D29E6BAE5}"/>
              </a:ext>
            </a:extLst>
          </p:cNvPr>
          <p:cNvSpPr>
            <a:spLocks noGrp="1"/>
          </p:cNvSpPr>
          <p:nvPr/>
        </p:nvSpPr>
        <p:spPr>
          <a:xfrm>
            <a:off x="8163877" y="4599716"/>
            <a:ext cx="842963" cy="2428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050" b="1">
                <a:solidFill>
                  <a:srgbClr val="76B900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788" b="1" dirty="0">
                <a:solidFill>
                  <a:srgbClr val="76B900"/>
                </a:solidFill>
                <a:latin typeface="Avenir Next"/>
                <a:ea typeface="Avenir Next"/>
                <a:cs typeface="Avenir Next"/>
              </a:rPr>
              <a:t>Generate PDF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6EEB883-DE1F-F8D4-D837-8AAC11AC734D}"/>
              </a:ext>
            </a:extLst>
          </p:cNvPr>
          <p:cNvSpPr>
            <a:spLocks noGrp="1"/>
          </p:cNvSpPr>
          <p:nvPr/>
        </p:nvSpPr>
        <p:spPr>
          <a:xfrm>
            <a:off x="6943725" y="3892485"/>
            <a:ext cx="1600200" cy="14288"/>
          </a:xfrm>
          <a:prstGeom prst="rect">
            <a:avLst/>
          </a:prstGeom>
          <a:solidFill>
            <a:srgbClr val="0078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385C8DA-6604-7503-7915-86EF6791C009}"/>
              </a:ext>
            </a:extLst>
          </p:cNvPr>
          <p:cNvSpPr>
            <a:spLocks noGrp="1"/>
          </p:cNvSpPr>
          <p:nvPr/>
        </p:nvSpPr>
        <p:spPr>
          <a:xfrm>
            <a:off x="8543925" y="3828192"/>
            <a:ext cx="128588" cy="142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050" b="1">
                <a:solidFill>
                  <a:srgbClr val="007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0078D4"/>
                </a:solidFill>
                <a:latin typeface="Avenir Next"/>
                <a:ea typeface="Avenir Next"/>
                <a:cs typeface="Avenir Next"/>
              </a:rPr>
              <a:t>&gt;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739DDB5-022E-B613-75D7-6FA93BD6BED6}"/>
              </a:ext>
            </a:extLst>
          </p:cNvPr>
          <p:cNvSpPr>
            <a:spLocks noGrp="1"/>
          </p:cNvSpPr>
          <p:nvPr/>
        </p:nvSpPr>
        <p:spPr>
          <a:xfrm>
            <a:off x="8601075" y="3899629"/>
            <a:ext cx="14288" cy="400050"/>
          </a:xfrm>
          <a:prstGeom prst="rect">
            <a:avLst/>
          </a:prstGeom>
          <a:solidFill>
            <a:srgbClr val="0078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742A34A-382E-4480-0FCB-B291A0798850}"/>
              </a:ext>
            </a:extLst>
          </p:cNvPr>
          <p:cNvSpPr>
            <a:spLocks noGrp="1"/>
          </p:cNvSpPr>
          <p:nvPr/>
        </p:nvSpPr>
        <p:spPr>
          <a:xfrm>
            <a:off x="8551069" y="4271104"/>
            <a:ext cx="114300" cy="1285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825" b="1">
                <a:solidFill>
                  <a:srgbClr val="0078D4"/>
                </a:solidFill>
                <a:latin typeface="Avenir Next"/>
                <a:ea typeface="Avenir Next"/>
                <a:cs typeface="Avenir Next"/>
              </a:defRPr>
            </a:pPr>
            <a:r>
              <a:rPr sz="619" b="1">
                <a:solidFill>
                  <a:srgbClr val="0078D4"/>
                </a:solidFill>
                <a:latin typeface="Avenir Next"/>
                <a:ea typeface="Avenir Next"/>
                <a:cs typeface="Avenir Next"/>
              </a:rPr>
              <a:t>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87">
            <a:extLst>
              <a:ext uri="{FF2B5EF4-FFF2-40B4-BE49-F238E27FC236}">
                <a16:creationId xmlns:a16="http://schemas.microsoft.com/office/drawing/2014/main" id="{B33446C1-5275-4945-8B6D-786FA5E7B4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21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D1471F-9145-4589-A781-A96908129D30}"/>
              </a:ext>
            </a:extLst>
          </p:cNvPr>
          <p:cNvSpPr>
            <a:spLocks noGrp="1"/>
          </p:cNvSpPr>
          <p:nvPr/>
        </p:nvSpPr>
        <p:spPr>
          <a:xfrm>
            <a:off x="414338" y="585788"/>
            <a:ext cx="6715125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2438" b="1">
                <a:solidFill>
                  <a:srgbClr val="76B900"/>
                </a:solidFill>
                <a:latin typeface="Georgia"/>
                <a:ea typeface="Georgia"/>
                <a:cs typeface="Georgia"/>
              </a:defRPr>
            </a:pPr>
            <a:r>
              <a:rPr lang="en-US" b="1" dirty="0">
                <a:solidFill>
                  <a:srgbClr val="76B900"/>
                </a:solidFill>
                <a:latin typeface="Georgia"/>
                <a:ea typeface="Georgia"/>
                <a:cs typeface="Georgia"/>
              </a:rPr>
              <a:t>VSS Insurance Claims Triage Demo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0A665C-4645-495A-B662-9FB81BD2B68F}"/>
              </a:ext>
            </a:extLst>
          </p:cNvPr>
          <p:cNvSpPr>
            <a:spLocks noGrp="1"/>
          </p:cNvSpPr>
          <p:nvPr/>
        </p:nvSpPr>
        <p:spPr>
          <a:xfrm>
            <a:off x="428625" y="1300162"/>
            <a:ext cx="6072188" cy="3000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844" dirty="0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VSS does not know insurance. It supplies natural-language damage evidence; the orchestrator agent structures it, then a pricing tool calculates estimate.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52608D-59CE-49AA-A545-F76EDC9CC2FA}"/>
              </a:ext>
            </a:extLst>
          </p:cNvPr>
          <p:cNvSpPr>
            <a:spLocks noGrp="1"/>
          </p:cNvSpPr>
          <p:nvPr/>
        </p:nvSpPr>
        <p:spPr>
          <a:xfrm>
            <a:off x="528638" y="1728787"/>
            <a:ext cx="2085975" cy="1014413"/>
          </a:xfrm>
          <a:prstGeom prst="rect">
            <a:avLst/>
          </a:prstGeom>
          <a:solidFill>
            <a:srgbClr val="1A1F2E"/>
          </a:solidFill>
          <a:ln w="9525">
            <a:solidFill>
              <a:srgbClr val="76B900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6844A6-AF9D-47B2-A75B-9327B9E75F91}"/>
              </a:ext>
            </a:extLst>
          </p:cNvPr>
          <p:cNvSpPr>
            <a:spLocks noGrp="1"/>
          </p:cNvSpPr>
          <p:nvPr/>
        </p:nvSpPr>
        <p:spPr>
          <a:xfrm>
            <a:off x="528638" y="1728788"/>
            <a:ext cx="2085975" cy="50006"/>
          </a:xfrm>
          <a:prstGeom prst="rect">
            <a:avLst/>
          </a:prstGeom>
          <a:solidFill>
            <a:srgbClr val="76B9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135BD77-5C81-43A3-8827-959470E36B5B}"/>
              </a:ext>
            </a:extLst>
          </p:cNvPr>
          <p:cNvSpPr>
            <a:spLocks noGrp="1"/>
          </p:cNvSpPr>
          <p:nvPr/>
        </p:nvSpPr>
        <p:spPr>
          <a:xfrm>
            <a:off x="642938" y="1871662"/>
            <a:ext cx="1857375" cy="15716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1">
                <a:solidFill>
                  <a:srgbClr val="76B900"/>
                </a:solidFill>
                <a:latin typeface="Avenir Next"/>
                <a:ea typeface="Avenir Next"/>
                <a:cs typeface="Avenir Next"/>
              </a:defRPr>
            </a:pPr>
            <a:r>
              <a:rPr sz="760" b="1" dirty="0">
                <a:solidFill>
                  <a:srgbClr val="76B900"/>
                </a:solidFill>
                <a:latin typeface="Avenir Next"/>
                <a:ea typeface="Avenir Next"/>
                <a:cs typeface="Avenir Next"/>
              </a:rPr>
              <a:t>STAGE 1 · VSS </a:t>
            </a:r>
            <a:r>
              <a:rPr lang="en-US" sz="760" b="1" dirty="0">
                <a:solidFill>
                  <a:srgbClr val="76B900"/>
                </a:solidFill>
                <a:latin typeface="Avenir Next"/>
                <a:ea typeface="Avenir Next"/>
                <a:cs typeface="Avenir Next"/>
              </a:rPr>
              <a:t>analysis</a:t>
            </a:r>
            <a:endParaRPr sz="760" b="1" dirty="0">
              <a:solidFill>
                <a:srgbClr val="76B900"/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A1C294-913D-47F0-B0F3-CE2257136CCC}"/>
              </a:ext>
            </a:extLst>
          </p:cNvPr>
          <p:cNvSpPr>
            <a:spLocks noGrp="1"/>
          </p:cNvSpPr>
          <p:nvPr/>
        </p:nvSpPr>
        <p:spPr>
          <a:xfrm>
            <a:off x="642938" y="2114550"/>
            <a:ext cx="1857375" cy="528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91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"Significant front-end damage, shattered windshield, crumpled hood, visible dents and scratches."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7A30E2-BAD9-4A85-9E99-92373E2599F2}"/>
              </a:ext>
            </a:extLst>
          </p:cNvPr>
          <p:cNvSpPr>
            <a:spLocks noGrp="1"/>
          </p:cNvSpPr>
          <p:nvPr/>
        </p:nvSpPr>
        <p:spPr>
          <a:xfrm>
            <a:off x="2614613" y="2228850"/>
            <a:ext cx="378619" cy="14288"/>
          </a:xfrm>
          <a:prstGeom prst="rect">
            <a:avLst/>
          </a:prstGeom>
          <a:solidFill>
            <a:srgbClr val="0078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978A66-5EDF-43D6-AC8D-D45F914528B4}"/>
              </a:ext>
            </a:extLst>
          </p:cNvPr>
          <p:cNvSpPr>
            <a:spLocks noGrp="1"/>
          </p:cNvSpPr>
          <p:nvPr/>
        </p:nvSpPr>
        <p:spPr>
          <a:xfrm>
            <a:off x="2993231" y="2164556"/>
            <a:ext cx="128588" cy="142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050" b="1">
                <a:solidFill>
                  <a:srgbClr val="007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0078D4"/>
                </a:solidFill>
                <a:latin typeface="Avenir Next"/>
                <a:ea typeface="Avenir Next"/>
                <a:cs typeface="Avenir Next"/>
              </a:rPr>
              <a:t>&gt;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EDE0CC8-80FA-4DF1-97EE-8191F2A2120B}"/>
              </a:ext>
            </a:extLst>
          </p:cNvPr>
          <p:cNvSpPr>
            <a:spLocks noGrp="1"/>
          </p:cNvSpPr>
          <p:nvPr/>
        </p:nvSpPr>
        <p:spPr>
          <a:xfrm>
            <a:off x="3057525" y="1728787"/>
            <a:ext cx="2085975" cy="1014413"/>
          </a:xfrm>
          <a:prstGeom prst="rect">
            <a:avLst/>
          </a:prstGeom>
          <a:solidFill>
            <a:srgbClr val="1A1F2E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820D1F-590B-405F-8436-391F429F20B9}"/>
              </a:ext>
            </a:extLst>
          </p:cNvPr>
          <p:cNvSpPr>
            <a:spLocks noGrp="1"/>
          </p:cNvSpPr>
          <p:nvPr/>
        </p:nvSpPr>
        <p:spPr>
          <a:xfrm>
            <a:off x="3057525" y="1728788"/>
            <a:ext cx="2085975" cy="50006"/>
          </a:xfrm>
          <a:prstGeom prst="rect">
            <a:avLst/>
          </a:prstGeom>
          <a:solidFill>
            <a:srgbClr val="0078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BE8C61-E92D-4808-A891-63F261BE01AD}"/>
              </a:ext>
            </a:extLst>
          </p:cNvPr>
          <p:cNvSpPr>
            <a:spLocks noGrp="1"/>
          </p:cNvSpPr>
          <p:nvPr/>
        </p:nvSpPr>
        <p:spPr>
          <a:xfrm>
            <a:off x="3171825" y="1871662"/>
            <a:ext cx="1857375" cy="15716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1">
                <a:solidFill>
                  <a:srgbClr val="0078D4"/>
                </a:solidFill>
                <a:latin typeface="Avenir Next"/>
                <a:ea typeface="Avenir Next"/>
                <a:cs typeface="Avenir Next"/>
              </a:defRPr>
            </a:pPr>
            <a:r>
              <a:rPr sz="760" b="1" dirty="0">
                <a:solidFill>
                  <a:srgbClr val="0078D4"/>
                </a:solidFill>
                <a:latin typeface="Avenir Next"/>
                <a:ea typeface="Avenir Next"/>
                <a:cs typeface="Avenir Next"/>
              </a:rPr>
              <a:t>STAGE 2 · gpt-4.1</a:t>
            </a:r>
            <a:r>
              <a:rPr lang="en-US" sz="760" b="1" dirty="0">
                <a:solidFill>
                  <a:srgbClr val="0078D4"/>
                </a:solidFill>
                <a:latin typeface="Avenir Next"/>
                <a:ea typeface="Avenir Next"/>
                <a:cs typeface="Avenir Next"/>
              </a:rPr>
              <a:t>/nemotron-3-super</a:t>
            </a:r>
            <a:endParaRPr sz="760" b="1" dirty="0">
              <a:solidFill>
                <a:srgbClr val="0078D4"/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8D58822-3458-44E4-BB86-1F760DB5C90A}"/>
              </a:ext>
            </a:extLst>
          </p:cNvPr>
          <p:cNvSpPr>
            <a:spLocks noGrp="1"/>
          </p:cNvSpPr>
          <p:nvPr/>
        </p:nvSpPr>
        <p:spPr>
          <a:xfrm>
            <a:off x="3171825" y="2114550"/>
            <a:ext cx="1857375" cy="528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91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Maps prose to canonical panel names and severity tiers: hood/severe, windshield/severe, front bumper/severe, driver door/moderate.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E282BDB-6CBA-426D-A8AC-A216B921C9BE}"/>
              </a:ext>
            </a:extLst>
          </p:cNvPr>
          <p:cNvSpPr>
            <a:spLocks noGrp="1"/>
          </p:cNvSpPr>
          <p:nvPr/>
        </p:nvSpPr>
        <p:spPr>
          <a:xfrm>
            <a:off x="5143500" y="2228850"/>
            <a:ext cx="378619" cy="14288"/>
          </a:xfrm>
          <a:prstGeom prst="rect">
            <a:avLst/>
          </a:prstGeom>
          <a:solidFill>
            <a:srgbClr val="0078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D12CE4D-DA67-43C1-83A9-EB54359DA398}"/>
              </a:ext>
            </a:extLst>
          </p:cNvPr>
          <p:cNvSpPr>
            <a:spLocks noGrp="1"/>
          </p:cNvSpPr>
          <p:nvPr/>
        </p:nvSpPr>
        <p:spPr>
          <a:xfrm>
            <a:off x="5522119" y="2164556"/>
            <a:ext cx="128588" cy="142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050" b="1">
                <a:solidFill>
                  <a:srgbClr val="007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0078D4"/>
                </a:solidFill>
                <a:latin typeface="Avenir Next"/>
                <a:ea typeface="Avenir Next"/>
                <a:cs typeface="Avenir Next"/>
              </a:rPr>
              <a:t>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2AFA145-461A-4F54-A699-9DCE88EF1009}"/>
              </a:ext>
            </a:extLst>
          </p:cNvPr>
          <p:cNvSpPr>
            <a:spLocks noGrp="1"/>
          </p:cNvSpPr>
          <p:nvPr/>
        </p:nvSpPr>
        <p:spPr>
          <a:xfrm>
            <a:off x="5586413" y="1728787"/>
            <a:ext cx="2085975" cy="1014413"/>
          </a:xfrm>
          <a:prstGeom prst="rect">
            <a:avLst/>
          </a:prstGeom>
          <a:solidFill>
            <a:srgbClr val="1A1F2E"/>
          </a:solidFill>
          <a:ln w="9525">
            <a:solidFill>
              <a:srgbClr val="F2C94C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9C9E2D6-3EA7-49A6-86B5-0885756FFD1B}"/>
              </a:ext>
            </a:extLst>
          </p:cNvPr>
          <p:cNvSpPr>
            <a:spLocks noGrp="1"/>
          </p:cNvSpPr>
          <p:nvPr/>
        </p:nvSpPr>
        <p:spPr>
          <a:xfrm>
            <a:off x="5586413" y="1728788"/>
            <a:ext cx="2085975" cy="50006"/>
          </a:xfrm>
          <a:prstGeom prst="rect">
            <a:avLst/>
          </a:prstGeom>
          <a:solidFill>
            <a:srgbClr val="F2C94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DDE163-D9EC-4561-A3B5-6333A1120740}"/>
              </a:ext>
            </a:extLst>
          </p:cNvPr>
          <p:cNvSpPr>
            <a:spLocks noGrp="1"/>
          </p:cNvSpPr>
          <p:nvPr/>
        </p:nvSpPr>
        <p:spPr>
          <a:xfrm>
            <a:off x="5700713" y="1871662"/>
            <a:ext cx="1857375" cy="15716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1">
                <a:solidFill>
                  <a:srgbClr val="F2C94C"/>
                </a:solidFill>
                <a:latin typeface="Avenir Next"/>
                <a:ea typeface="Avenir Next"/>
                <a:cs typeface="Avenir Next"/>
              </a:defRPr>
            </a:pPr>
            <a:r>
              <a:rPr sz="760" b="1" dirty="0">
                <a:solidFill>
                  <a:srgbClr val="F2C94C"/>
                </a:solidFill>
                <a:latin typeface="Avenir Next"/>
                <a:ea typeface="Avenir Next"/>
                <a:cs typeface="Avenir Next"/>
              </a:rPr>
              <a:t>STAGE 3 · </a:t>
            </a:r>
            <a:r>
              <a:rPr lang="en-US" sz="760" b="1" dirty="0">
                <a:solidFill>
                  <a:srgbClr val="F2C94C"/>
                </a:solidFill>
                <a:latin typeface="Avenir Next"/>
                <a:ea typeface="Avenir Next"/>
                <a:cs typeface="Avenir Next"/>
              </a:rPr>
              <a:t>repair </a:t>
            </a:r>
            <a:r>
              <a:rPr sz="760" b="1" dirty="0">
                <a:solidFill>
                  <a:srgbClr val="F2C94C"/>
                </a:solidFill>
                <a:latin typeface="Avenir Next"/>
                <a:ea typeface="Avenir Next"/>
                <a:cs typeface="Avenir Next"/>
              </a:rPr>
              <a:t>pricing tool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E9241E3-B843-4F99-A155-10156BC54E09}"/>
              </a:ext>
            </a:extLst>
          </p:cNvPr>
          <p:cNvSpPr>
            <a:spLocks noGrp="1"/>
          </p:cNvSpPr>
          <p:nvPr/>
        </p:nvSpPr>
        <p:spPr>
          <a:xfrm>
            <a:off x="5700713" y="2114550"/>
            <a:ext cx="1857375" cy="528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91" dirty="0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Part base × severity multiplier plus labor hours × $95/hr. The mock engine returns line items and totals.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27AF240-3E82-4B91-9D38-27B877799FB5}"/>
              </a:ext>
            </a:extLst>
          </p:cNvPr>
          <p:cNvSpPr>
            <a:spLocks noGrp="1"/>
          </p:cNvSpPr>
          <p:nvPr/>
        </p:nvSpPr>
        <p:spPr>
          <a:xfrm>
            <a:off x="857250" y="3157538"/>
            <a:ext cx="4229100" cy="228600"/>
          </a:xfrm>
          <a:prstGeom prst="rect">
            <a:avLst/>
          </a:prstGeom>
          <a:solidFill>
            <a:srgbClr val="76B900"/>
          </a:solidFill>
          <a:ln w="9525">
            <a:solidFill>
              <a:srgbClr val="76B900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B3EF5AC-F886-4543-AE0A-A27507414685}"/>
              </a:ext>
            </a:extLst>
          </p:cNvPr>
          <p:cNvSpPr>
            <a:spLocks noGrp="1"/>
          </p:cNvSpPr>
          <p:nvPr/>
        </p:nvSpPr>
        <p:spPr>
          <a:xfrm>
            <a:off x="928688" y="3214688"/>
            <a:ext cx="100012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615" b="1">
                <a:solidFill>
                  <a:srgbClr val="1A1F2E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461" b="1">
                <a:solidFill>
                  <a:srgbClr val="1A1F2E"/>
                </a:solidFill>
                <a:latin typeface="Avenir Next"/>
                <a:ea typeface="Avenir Next"/>
                <a:cs typeface="Avenir Next"/>
              </a:rPr>
              <a:t>Panel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B79861F-3F9C-4494-8906-463191E09B72}"/>
              </a:ext>
            </a:extLst>
          </p:cNvPr>
          <p:cNvSpPr>
            <a:spLocks noGrp="1"/>
          </p:cNvSpPr>
          <p:nvPr/>
        </p:nvSpPr>
        <p:spPr>
          <a:xfrm>
            <a:off x="1993107" y="3157538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192862B-E443-4D7A-B3BE-B078C0ED8155}"/>
              </a:ext>
            </a:extLst>
          </p:cNvPr>
          <p:cNvSpPr>
            <a:spLocks noGrp="1"/>
          </p:cNvSpPr>
          <p:nvPr/>
        </p:nvSpPr>
        <p:spPr>
          <a:xfrm>
            <a:off x="2071688" y="3214688"/>
            <a:ext cx="54292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615" b="1">
                <a:solidFill>
                  <a:srgbClr val="1A1F2E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461" b="1">
                <a:solidFill>
                  <a:srgbClr val="1A1F2E"/>
                </a:solidFill>
                <a:latin typeface="Avenir Next"/>
                <a:ea typeface="Avenir Next"/>
                <a:cs typeface="Avenir Next"/>
              </a:rPr>
              <a:t>Severity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AB037B1-0300-47CE-AB6E-E6823CCD5E52}"/>
              </a:ext>
            </a:extLst>
          </p:cNvPr>
          <p:cNvSpPr>
            <a:spLocks noGrp="1"/>
          </p:cNvSpPr>
          <p:nvPr/>
        </p:nvSpPr>
        <p:spPr>
          <a:xfrm>
            <a:off x="2678907" y="3157538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C8B9152-13E8-4701-ADE1-71B1980CE3A4}"/>
              </a:ext>
            </a:extLst>
          </p:cNvPr>
          <p:cNvSpPr>
            <a:spLocks noGrp="1"/>
          </p:cNvSpPr>
          <p:nvPr/>
        </p:nvSpPr>
        <p:spPr>
          <a:xfrm>
            <a:off x="2757488" y="3214688"/>
            <a:ext cx="7429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615" b="1">
                <a:solidFill>
                  <a:srgbClr val="1A1F2E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461" b="1">
                <a:solidFill>
                  <a:srgbClr val="1A1F2E"/>
                </a:solidFill>
                <a:latin typeface="Avenir Next"/>
                <a:ea typeface="Avenir Next"/>
                <a:cs typeface="Avenir Next"/>
              </a:rPr>
              <a:t>Part calc.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0FED52-3DA1-4D80-A9D5-A6E79FF1D940}"/>
              </a:ext>
            </a:extLst>
          </p:cNvPr>
          <p:cNvSpPr>
            <a:spLocks noGrp="1"/>
          </p:cNvSpPr>
          <p:nvPr/>
        </p:nvSpPr>
        <p:spPr>
          <a:xfrm>
            <a:off x="3564732" y="3157538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DE7A59-61C5-44B5-B40B-5118DC27F817}"/>
              </a:ext>
            </a:extLst>
          </p:cNvPr>
          <p:cNvSpPr>
            <a:spLocks noGrp="1"/>
          </p:cNvSpPr>
          <p:nvPr/>
        </p:nvSpPr>
        <p:spPr>
          <a:xfrm>
            <a:off x="3643313" y="3214688"/>
            <a:ext cx="6286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615" b="1">
                <a:solidFill>
                  <a:srgbClr val="1A1F2E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461" b="1">
                <a:solidFill>
                  <a:srgbClr val="1A1F2E"/>
                </a:solidFill>
                <a:latin typeface="Avenir Next"/>
                <a:ea typeface="Avenir Next"/>
                <a:cs typeface="Avenir Next"/>
              </a:rPr>
              <a:t>Labor calc.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B5A6A1C-38BA-4DEC-8CDA-3DE3A4545CD8}"/>
              </a:ext>
            </a:extLst>
          </p:cNvPr>
          <p:cNvSpPr>
            <a:spLocks noGrp="1"/>
          </p:cNvSpPr>
          <p:nvPr/>
        </p:nvSpPr>
        <p:spPr>
          <a:xfrm>
            <a:off x="4336257" y="3157538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B605C56-BAF9-4F17-B967-4FDE4AFB2FEC}"/>
              </a:ext>
            </a:extLst>
          </p:cNvPr>
          <p:cNvSpPr>
            <a:spLocks noGrp="1"/>
          </p:cNvSpPr>
          <p:nvPr/>
        </p:nvSpPr>
        <p:spPr>
          <a:xfrm>
            <a:off x="4414838" y="3214688"/>
            <a:ext cx="60007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615" b="1">
                <a:solidFill>
                  <a:srgbClr val="1A1F2E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461" b="1">
                <a:solidFill>
                  <a:srgbClr val="1A1F2E"/>
                </a:solidFill>
                <a:latin typeface="Avenir Next"/>
                <a:ea typeface="Avenir Next"/>
                <a:cs typeface="Avenir Next"/>
              </a:rPr>
              <a:t>Line total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6FD2B8A-1295-49E2-AD83-DAC2D325293F}"/>
              </a:ext>
            </a:extLst>
          </p:cNvPr>
          <p:cNvSpPr>
            <a:spLocks noGrp="1"/>
          </p:cNvSpPr>
          <p:nvPr/>
        </p:nvSpPr>
        <p:spPr>
          <a:xfrm>
            <a:off x="857250" y="3400425"/>
            <a:ext cx="4229100" cy="228600"/>
          </a:xfrm>
          <a:prstGeom prst="rect">
            <a:avLst/>
          </a:prstGeom>
          <a:solidFill>
            <a:srgbClr val="1A1F2E"/>
          </a:solidFill>
          <a:ln w="9525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F2E76AB-ADB2-4DFE-B0CA-F7940ECFD6BE}"/>
              </a:ext>
            </a:extLst>
          </p:cNvPr>
          <p:cNvSpPr>
            <a:spLocks noGrp="1"/>
          </p:cNvSpPr>
          <p:nvPr/>
        </p:nvSpPr>
        <p:spPr>
          <a:xfrm>
            <a:off x="928688" y="3457575"/>
            <a:ext cx="100012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05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hood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9AE5FAD-F898-424A-B82E-E8D4B8C74925}"/>
              </a:ext>
            </a:extLst>
          </p:cNvPr>
          <p:cNvSpPr>
            <a:spLocks noGrp="1"/>
          </p:cNvSpPr>
          <p:nvPr/>
        </p:nvSpPr>
        <p:spPr>
          <a:xfrm>
            <a:off x="1993107" y="3400425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BC22349-989C-4F9B-9A28-BA4ABDE175C2}"/>
              </a:ext>
            </a:extLst>
          </p:cNvPr>
          <p:cNvSpPr>
            <a:spLocks noGrp="1"/>
          </p:cNvSpPr>
          <p:nvPr/>
        </p:nvSpPr>
        <p:spPr>
          <a:xfrm>
            <a:off x="2071688" y="3457575"/>
            <a:ext cx="54292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05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severe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7A09EFF-1191-4951-A907-8CEFD5D1F29C}"/>
              </a:ext>
            </a:extLst>
          </p:cNvPr>
          <p:cNvSpPr>
            <a:spLocks noGrp="1"/>
          </p:cNvSpPr>
          <p:nvPr/>
        </p:nvSpPr>
        <p:spPr>
          <a:xfrm>
            <a:off x="2678907" y="3400425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0400E1C-3952-4661-B54F-EEBF95D89EB2}"/>
              </a:ext>
            </a:extLst>
          </p:cNvPr>
          <p:cNvSpPr>
            <a:spLocks noGrp="1"/>
          </p:cNvSpPr>
          <p:nvPr/>
        </p:nvSpPr>
        <p:spPr>
          <a:xfrm>
            <a:off x="2757488" y="3457575"/>
            <a:ext cx="7429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05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$1,200 × 1.3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F800ABD-812E-4C92-AFCC-82B69F0BF95B}"/>
              </a:ext>
            </a:extLst>
          </p:cNvPr>
          <p:cNvSpPr>
            <a:spLocks noGrp="1"/>
          </p:cNvSpPr>
          <p:nvPr/>
        </p:nvSpPr>
        <p:spPr>
          <a:xfrm>
            <a:off x="3564732" y="3400425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8F80749-1F1F-4DD4-B59A-25C0DEFA603F}"/>
              </a:ext>
            </a:extLst>
          </p:cNvPr>
          <p:cNvSpPr>
            <a:spLocks noGrp="1"/>
          </p:cNvSpPr>
          <p:nvPr/>
        </p:nvSpPr>
        <p:spPr>
          <a:xfrm>
            <a:off x="3643313" y="3457575"/>
            <a:ext cx="6286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05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8 × $95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F3C854C-5387-4458-B7DC-FC708B85B416}"/>
              </a:ext>
            </a:extLst>
          </p:cNvPr>
          <p:cNvSpPr>
            <a:spLocks noGrp="1"/>
          </p:cNvSpPr>
          <p:nvPr/>
        </p:nvSpPr>
        <p:spPr>
          <a:xfrm>
            <a:off x="4336257" y="3400425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B16A8CE-4E9E-4782-8219-08C2B9139717}"/>
              </a:ext>
            </a:extLst>
          </p:cNvPr>
          <p:cNvSpPr>
            <a:spLocks noGrp="1"/>
          </p:cNvSpPr>
          <p:nvPr/>
        </p:nvSpPr>
        <p:spPr>
          <a:xfrm>
            <a:off x="4414838" y="3457575"/>
            <a:ext cx="60007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705" b="1">
                <a:solidFill>
                  <a:srgbClr val="76B900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 b="1">
                <a:solidFill>
                  <a:srgbClr val="76B900"/>
                </a:solidFill>
                <a:latin typeface="Avenir Next"/>
                <a:ea typeface="Avenir Next"/>
                <a:cs typeface="Avenir Next"/>
              </a:rPr>
              <a:t>$2,320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B1B3600-F8D1-41C6-8786-A43A9B4AEA79}"/>
              </a:ext>
            </a:extLst>
          </p:cNvPr>
          <p:cNvSpPr>
            <a:spLocks noGrp="1"/>
          </p:cNvSpPr>
          <p:nvPr/>
        </p:nvSpPr>
        <p:spPr>
          <a:xfrm>
            <a:off x="857250" y="3643313"/>
            <a:ext cx="4229100" cy="228600"/>
          </a:xfrm>
          <a:prstGeom prst="rect">
            <a:avLst/>
          </a:prstGeom>
          <a:solidFill>
            <a:srgbClr val="1A1F2E"/>
          </a:solidFill>
          <a:ln w="9525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7CDA0EB-05F1-4AA2-BF25-1872C6FFBADD}"/>
              </a:ext>
            </a:extLst>
          </p:cNvPr>
          <p:cNvSpPr>
            <a:spLocks noGrp="1"/>
          </p:cNvSpPr>
          <p:nvPr/>
        </p:nvSpPr>
        <p:spPr>
          <a:xfrm>
            <a:off x="928688" y="3700463"/>
            <a:ext cx="100012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05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windshield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230FF3D-E297-4056-8002-799B5672A86C}"/>
              </a:ext>
            </a:extLst>
          </p:cNvPr>
          <p:cNvSpPr>
            <a:spLocks noGrp="1"/>
          </p:cNvSpPr>
          <p:nvPr/>
        </p:nvSpPr>
        <p:spPr>
          <a:xfrm>
            <a:off x="1993107" y="3643313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F492B03-9340-4D43-85D1-CD6F8FBE48CC}"/>
              </a:ext>
            </a:extLst>
          </p:cNvPr>
          <p:cNvSpPr>
            <a:spLocks noGrp="1"/>
          </p:cNvSpPr>
          <p:nvPr/>
        </p:nvSpPr>
        <p:spPr>
          <a:xfrm>
            <a:off x="2071688" y="3700463"/>
            <a:ext cx="54292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05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severe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C5331E5-88A6-4DCF-AFA5-425A51AB05ED}"/>
              </a:ext>
            </a:extLst>
          </p:cNvPr>
          <p:cNvSpPr>
            <a:spLocks noGrp="1"/>
          </p:cNvSpPr>
          <p:nvPr/>
        </p:nvSpPr>
        <p:spPr>
          <a:xfrm>
            <a:off x="2678907" y="3643313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C120DD7-33FC-485D-9163-BA76788CCF61}"/>
              </a:ext>
            </a:extLst>
          </p:cNvPr>
          <p:cNvSpPr>
            <a:spLocks noGrp="1"/>
          </p:cNvSpPr>
          <p:nvPr/>
        </p:nvSpPr>
        <p:spPr>
          <a:xfrm>
            <a:off x="2757488" y="3700463"/>
            <a:ext cx="7429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05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$540 × 1.3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1263268-335A-427E-8818-F9C510513B2B}"/>
              </a:ext>
            </a:extLst>
          </p:cNvPr>
          <p:cNvSpPr>
            <a:spLocks noGrp="1"/>
          </p:cNvSpPr>
          <p:nvPr/>
        </p:nvSpPr>
        <p:spPr>
          <a:xfrm>
            <a:off x="3564732" y="3643313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FB2D33F-26FB-409B-88A3-786879222EE6}"/>
              </a:ext>
            </a:extLst>
          </p:cNvPr>
          <p:cNvSpPr>
            <a:spLocks noGrp="1"/>
          </p:cNvSpPr>
          <p:nvPr/>
        </p:nvSpPr>
        <p:spPr>
          <a:xfrm>
            <a:off x="3643313" y="3700463"/>
            <a:ext cx="6286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05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8 × $95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CB74D1E-7677-4A7F-B2A3-EE17D77E675E}"/>
              </a:ext>
            </a:extLst>
          </p:cNvPr>
          <p:cNvSpPr>
            <a:spLocks noGrp="1"/>
          </p:cNvSpPr>
          <p:nvPr/>
        </p:nvSpPr>
        <p:spPr>
          <a:xfrm>
            <a:off x="4336257" y="3643313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349EFED-6B57-4725-B02C-9F03800B5CFD}"/>
              </a:ext>
            </a:extLst>
          </p:cNvPr>
          <p:cNvSpPr>
            <a:spLocks noGrp="1"/>
          </p:cNvSpPr>
          <p:nvPr/>
        </p:nvSpPr>
        <p:spPr>
          <a:xfrm>
            <a:off x="4414838" y="3700463"/>
            <a:ext cx="60007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705" b="1">
                <a:solidFill>
                  <a:srgbClr val="76B900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 b="1">
                <a:solidFill>
                  <a:srgbClr val="76B900"/>
                </a:solidFill>
                <a:latin typeface="Avenir Next"/>
                <a:ea typeface="Avenir Next"/>
                <a:cs typeface="Avenir Next"/>
              </a:rPr>
              <a:t>$1,462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C158D97-EB6E-42E9-B567-670B3F65290A}"/>
              </a:ext>
            </a:extLst>
          </p:cNvPr>
          <p:cNvSpPr>
            <a:spLocks noGrp="1"/>
          </p:cNvSpPr>
          <p:nvPr/>
        </p:nvSpPr>
        <p:spPr>
          <a:xfrm>
            <a:off x="857250" y="3886200"/>
            <a:ext cx="4229100" cy="228600"/>
          </a:xfrm>
          <a:prstGeom prst="rect">
            <a:avLst/>
          </a:prstGeom>
          <a:solidFill>
            <a:srgbClr val="1A1F2E"/>
          </a:solidFill>
          <a:ln w="9525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752FAE3-4F38-4CD4-9F9B-8154A25DE5C1}"/>
              </a:ext>
            </a:extLst>
          </p:cNvPr>
          <p:cNvSpPr>
            <a:spLocks noGrp="1"/>
          </p:cNvSpPr>
          <p:nvPr/>
        </p:nvSpPr>
        <p:spPr>
          <a:xfrm>
            <a:off x="928688" y="3943350"/>
            <a:ext cx="100012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05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front bumper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3F03B18-B56E-4D4A-949E-81DC1A011938}"/>
              </a:ext>
            </a:extLst>
          </p:cNvPr>
          <p:cNvSpPr>
            <a:spLocks noGrp="1"/>
          </p:cNvSpPr>
          <p:nvPr/>
        </p:nvSpPr>
        <p:spPr>
          <a:xfrm>
            <a:off x="1993107" y="3886200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F52B91F-798E-45A5-B69E-D7DA0C8D38DF}"/>
              </a:ext>
            </a:extLst>
          </p:cNvPr>
          <p:cNvSpPr>
            <a:spLocks noGrp="1"/>
          </p:cNvSpPr>
          <p:nvPr/>
        </p:nvSpPr>
        <p:spPr>
          <a:xfrm>
            <a:off x="2071688" y="3943350"/>
            <a:ext cx="54292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05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severe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2D2D51D-4964-4B31-BE8B-77D1EF536246}"/>
              </a:ext>
            </a:extLst>
          </p:cNvPr>
          <p:cNvSpPr>
            <a:spLocks noGrp="1"/>
          </p:cNvSpPr>
          <p:nvPr/>
        </p:nvSpPr>
        <p:spPr>
          <a:xfrm>
            <a:off x="2678907" y="3886200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0529F3C-7D30-45F3-8C52-7A561CAF18C6}"/>
              </a:ext>
            </a:extLst>
          </p:cNvPr>
          <p:cNvSpPr>
            <a:spLocks noGrp="1"/>
          </p:cNvSpPr>
          <p:nvPr/>
        </p:nvSpPr>
        <p:spPr>
          <a:xfrm>
            <a:off x="2757488" y="3943350"/>
            <a:ext cx="7429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05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$850 × 1.3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8600397-1815-49FE-8F6D-5A23343B3D7D}"/>
              </a:ext>
            </a:extLst>
          </p:cNvPr>
          <p:cNvSpPr>
            <a:spLocks noGrp="1"/>
          </p:cNvSpPr>
          <p:nvPr/>
        </p:nvSpPr>
        <p:spPr>
          <a:xfrm>
            <a:off x="3564732" y="3886200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5CCCA23-F872-4CD8-9677-F9389249FCD2}"/>
              </a:ext>
            </a:extLst>
          </p:cNvPr>
          <p:cNvSpPr>
            <a:spLocks noGrp="1"/>
          </p:cNvSpPr>
          <p:nvPr/>
        </p:nvSpPr>
        <p:spPr>
          <a:xfrm>
            <a:off x="3643313" y="3943350"/>
            <a:ext cx="6286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05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8 × $95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30A163C-3F4F-47EC-A6CF-586C2AE6CFC6}"/>
              </a:ext>
            </a:extLst>
          </p:cNvPr>
          <p:cNvSpPr>
            <a:spLocks noGrp="1"/>
          </p:cNvSpPr>
          <p:nvPr/>
        </p:nvSpPr>
        <p:spPr>
          <a:xfrm>
            <a:off x="4336257" y="3886200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6C9C13F-BAC3-4FC9-A2C5-78BA721D1A21}"/>
              </a:ext>
            </a:extLst>
          </p:cNvPr>
          <p:cNvSpPr>
            <a:spLocks noGrp="1"/>
          </p:cNvSpPr>
          <p:nvPr/>
        </p:nvSpPr>
        <p:spPr>
          <a:xfrm>
            <a:off x="4414838" y="3943350"/>
            <a:ext cx="60007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705" b="1">
                <a:solidFill>
                  <a:srgbClr val="76B900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 b="1">
                <a:solidFill>
                  <a:srgbClr val="76B900"/>
                </a:solidFill>
                <a:latin typeface="Avenir Next"/>
                <a:ea typeface="Avenir Next"/>
                <a:cs typeface="Avenir Next"/>
              </a:rPr>
              <a:t>$1,865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B4B9E67-E2D3-4475-83E7-8E158CE7F77B}"/>
              </a:ext>
            </a:extLst>
          </p:cNvPr>
          <p:cNvSpPr>
            <a:spLocks noGrp="1"/>
          </p:cNvSpPr>
          <p:nvPr/>
        </p:nvSpPr>
        <p:spPr>
          <a:xfrm>
            <a:off x="857250" y="4129088"/>
            <a:ext cx="4229100" cy="228600"/>
          </a:xfrm>
          <a:prstGeom prst="rect">
            <a:avLst/>
          </a:prstGeom>
          <a:solidFill>
            <a:srgbClr val="1A1F2E"/>
          </a:solidFill>
          <a:ln w="9525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4CDB668-8ACE-4A83-99DD-EBDF89947876}"/>
              </a:ext>
            </a:extLst>
          </p:cNvPr>
          <p:cNvSpPr>
            <a:spLocks noGrp="1"/>
          </p:cNvSpPr>
          <p:nvPr/>
        </p:nvSpPr>
        <p:spPr>
          <a:xfrm>
            <a:off x="928688" y="4186238"/>
            <a:ext cx="100012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05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driver door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FBAC7FE-6715-4C2B-8F93-54F1FFB45ED2}"/>
              </a:ext>
            </a:extLst>
          </p:cNvPr>
          <p:cNvSpPr>
            <a:spLocks noGrp="1"/>
          </p:cNvSpPr>
          <p:nvPr/>
        </p:nvSpPr>
        <p:spPr>
          <a:xfrm>
            <a:off x="1993107" y="4129088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AB7C89E-34D5-4234-A050-FBDF4D715AF2}"/>
              </a:ext>
            </a:extLst>
          </p:cNvPr>
          <p:cNvSpPr>
            <a:spLocks noGrp="1"/>
          </p:cNvSpPr>
          <p:nvPr/>
        </p:nvSpPr>
        <p:spPr>
          <a:xfrm>
            <a:off x="2071688" y="4186238"/>
            <a:ext cx="54292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05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moderate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77ACDBA-70FA-4CFA-8B92-B62CE9910A30}"/>
              </a:ext>
            </a:extLst>
          </p:cNvPr>
          <p:cNvSpPr>
            <a:spLocks noGrp="1"/>
          </p:cNvSpPr>
          <p:nvPr/>
        </p:nvSpPr>
        <p:spPr>
          <a:xfrm>
            <a:off x="2678907" y="4129088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CFF669D-E870-4E30-BEDB-B8A8BA4CAD03}"/>
              </a:ext>
            </a:extLst>
          </p:cNvPr>
          <p:cNvSpPr>
            <a:spLocks noGrp="1"/>
          </p:cNvSpPr>
          <p:nvPr/>
        </p:nvSpPr>
        <p:spPr>
          <a:xfrm>
            <a:off x="2757488" y="4186238"/>
            <a:ext cx="7429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05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$950 × 0.8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2B16C8A-0980-4834-AC5F-F9CDC7A4A64C}"/>
              </a:ext>
            </a:extLst>
          </p:cNvPr>
          <p:cNvSpPr>
            <a:spLocks noGrp="1"/>
          </p:cNvSpPr>
          <p:nvPr/>
        </p:nvSpPr>
        <p:spPr>
          <a:xfrm>
            <a:off x="3564732" y="4129088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26F477F-E89C-4385-81C1-DA0F2F631E13}"/>
              </a:ext>
            </a:extLst>
          </p:cNvPr>
          <p:cNvSpPr>
            <a:spLocks noGrp="1"/>
          </p:cNvSpPr>
          <p:nvPr/>
        </p:nvSpPr>
        <p:spPr>
          <a:xfrm>
            <a:off x="3643313" y="4186238"/>
            <a:ext cx="6286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05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4 × $95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102AD69-8D00-4EED-B245-2CBDC65865D5}"/>
              </a:ext>
            </a:extLst>
          </p:cNvPr>
          <p:cNvSpPr>
            <a:spLocks noGrp="1"/>
          </p:cNvSpPr>
          <p:nvPr/>
        </p:nvSpPr>
        <p:spPr>
          <a:xfrm>
            <a:off x="4336257" y="4129088"/>
            <a:ext cx="7144" cy="228600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9155219-FCF3-4CC4-970C-409B54D1F31E}"/>
              </a:ext>
            </a:extLst>
          </p:cNvPr>
          <p:cNvSpPr>
            <a:spLocks noGrp="1"/>
          </p:cNvSpPr>
          <p:nvPr/>
        </p:nvSpPr>
        <p:spPr>
          <a:xfrm>
            <a:off x="4414838" y="4186238"/>
            <a:ext cx="60007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705" b="1">
                <a:solidFill>
                  <a:srgbClr val="76B900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529" b="1">
                <a:solidFill>
                  <a:srgbClr val="76B900"/>
                </a:solidFill>
                <a:latin typeface="Avenir Next"/>
                <a:ea typeface="Avenir Next"/>
                <a:cs typeface="Avenir Next"/>
              </a:rPr>
              <a:t>$1,140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425BF9F-97DD-4DC8-BFB8-9AEC2BF382BA}"/>
              </a:ext>
            </a:extLst>
          </p:cNvPr>
          <p:cNvSpPr>
            <a:spLocks noGrp="1"/>
          </p:cNvSpPr>
          <p:nvPr/>
        </p:nvSpPr>
        <p:spPr>
          <a:xfrm>
            <a:off x="5429251" y="3271838"/>
            <a:ext cx="21431" cy="457200"/>
          </a:xfrm>
          <a:prstGeom prst="rect">
            <a:avLst/>
          </a:prstGeom>
          <a:solidFill>
            <a:srgbClr val="0078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1C87381-4A45-417C-AC7B-E4EFEFC45193}"/>
              </a:ext>
            </a:extLst>
          </p:cNvPr>
          <p:cNvSpPr>
            <a:spLocks noGrp="1"/>
          </p:cNvSpPr>
          <p:nvPr/>
        </p:nvSpPr>
        <p:spPr>
          <a:xfrm>
            <a:off x="5543550" y="3257550"/>
            <a:ext cx="9429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76B900"/>
                </a:solidFill>
                <a:latin typeface="Georgia"/>
                <a:ea typeface="Georgia"/>
                <a:cs typeface="Georgia"/>
              </a:defRPr>
            </a:pPr>
            <a:r>
              <a:rPr lang="en-US" sz="1238" b="1">
                <a:solidFill>
                  <a:srgbClr val="76B900"/>
                </a:solidFill>
                <a:latin typeface="Georgia"/>
                <a:ea typeface="Georgia"/>
                <a:cs typeface="Georgia"/>
              </a:rPr>
              <a:t>$4,127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D715BA1-9C04-4D2C-A707-4F37A6990AC7}"/>
              </a:ext>
            </a:extLst>
          </p:cNvPr>
          <p:cNvSpPr>
            <a:spLocks noGrp="1"/>
          </p:cNvSpPr>
          <p:nvPr/>
        </p:nvSpPr>
        <p:spPr>
          <a:xfrm>
            <a:off x="5543550" y="3529013"/>
            <a:ext cx="94297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60" b="1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495" b="1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parts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D071692-3841-47CE-8A4D-39D733C9FE52}"/>
              </a:ext>
            </a:extLst>
          </p:cNvPr>
          <p:cNvSpPr>
            <a:spLocks noGrp="1"/>
          </p:cNvSpPr>
          <p:nvPr/>
        </p:nvSpPr>
        <p:spPr>
          <a:xfrm>
            <a:off x="5543550" y="3657600"/>
            <a:ext cx="942975" cy="142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00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450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worked example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615075-5273-4EBF-9E8C-51802185F8B4}"/>
              </a:ext>
            </a:extLst>
          </p:cNvPr>
          <p:cNvSpPr>
            <a:spLocks noGrp="1"/>
          </p:cNvSpPr>
          <p:nvPr/>
        </p:nvSpPr>
        <p:spPr>
          <a:xfrm>
            <a:off x="5429251" y="3929063"/>
            <a:ext cx="21431" cy="457200"/>
          </a:xfrm>
          <a:prstGeom prst="rect">
            <a:avLst/>
          </a:prstGeom>
          <a:solidFill>
            <a:srgbClr val="76B9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1718B92-B0F2-4D0C-8479-DD1D3E0331C3}"/>
              </a:ext>
            </a:extLst>
          </p:cNvPr>
          <p:cNvSpPr>
            <a:spLocks noGrp="1"/>
          </p:cNvSpPr>
          <p:nvPr/>
        </p:nvSpPr>
        <p:spPr>
          <a:xfrm>
            <a:off x="5543550" y="3914775"/>
            <a:ext cx="9429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76B900"/>
                </a:solidFill>
                <a:latin typeface="Georgia"/>
                <a:ea typeface="Georgia"/>
                <a:cs typeface="Georgia"/>
              </a:defRPr>
            </a:pPr>
            <a:r>
              <a:rPr lang="en-US" sz="1238" b="1">
                <a:solidFill>
                  <a:srgbClr val="76B900"/>
                </a:solidFill>
                <a:latin typeface="Georgia"/>
                <a:ea typeface="Georgia"/>
                <a:cs typeface="Georgia"/>
              </a:rPr>
              <a:t>$2,660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F3DF064-2DF1-45B8-960B-E15B3641217A}"/>
              </a:ext>
            </a:extLst>
          </p:cNvPr>
          <p:cNvSpPr>
            <a:spLocks noGrp="1"/>
          </p:cNvSpPr>
          <p:nvPr/>
        </p:nvSpPr>
        <p:spPr>
          <a:xfrm>
            <a:off x="5543550" y="4186238"/>
            <a:ext cx="94297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60" b="1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495" b="1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labor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E8983A5-C43E-407D-A13E-3C13CB20D4BB}"/>
              </a:ext>
            </a:extLst>
          </p:cNvPr>
          <p:cNvSpPr>
            <a:spLocks noGrp="1"/>
          </p:cNvSpPr>
          <p:nvPr/>
        </p:nvSpPr>
        <p:spPr>
          <a:xfrm>
            <a:off x="5543550" y="4314825"/>
            <a:ext cx="942975" cy="142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00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450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$95/hr model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7157EA10-E182-4191-85EA-E3E20F192C82}"/>
              </a:ext>
            </a:extLst>
          </p:cNvPr>
          <p:cNvSpPr>
            <a:spLocks noGrp="1"/>
          </p:cNvSpPr>
          <p:nvPr/>
        </p:nvSpPr>
        <p:spPr>
          <a:xfrm>
            <a:off x="7143751" y="3529013"/>
            <a:ext cx="21431" cy="457200"/>
          </a:xfrm>
          <a:prstGeom prst="rect">
            <a:avLst/>
          </a:prstGeom>
          <a:solidFill>
            <a:srgbClr val="F26D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6B003655-B411-4A54-805E-2E9C31892572}"/>
              </a:ext>
            </a:extLst>
          </p:cNvPr>
          <p:cNvSpPr>
            <a:spLocks noGrp="1"/>
          </p:cNvSpPr>
          <p:nvPr/>
        </p:nvSpPr>
        <p:spPr>
          <a:xfrm>
            <a:off x="7258050" y="3514725"/>
            <a:ext cx="985838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76B900"/>
                </a:solidFill>
                <a:latin typeface="Georgia"/>
                <a:ea typeface="Georgia"/>
                <a:cs typeface="Georgia"/>
              </a:defRPr>
            </a:pPr>
            <a:r>
              <a:rPr lang="en-US" sz="1350" b="1">
                <a:solidFill>
                  <a:srgbClr val="76B900"/>
                </a:solidFill>
                <a:latin typeface="Georgia"/>
                <a:ea typeface="Georgia"/>
                <a:cs typeface="Georgia"/>
              </a:rPr>
              <a:t>$6,287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2B3A4AA-C4F6-47EA-AF9F-03545D468390}"/>
              </a:ext>
            </a:extLst>
          </p:cNvPr>
          <p:cNvSpPr>
            <a:spLocks noGrp="1"/>
          </p:cNvSpPr>
          <p:nvPr/>
        </p:nvSpPr>
        <p:spPr>
          <a:xfrm>
            <a:off x="7258050" y="3786188"/>
            <a:ext cx="985838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60" b="1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495" b="1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payable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C191631-7B09-4774-96ED-A1AC1F605737}"/>
              </a:ext>
            </a:extLst>
          </p:cNvPr>
          <p:cNvSpPr>
            <a:spLocks noGrp="1"/>
          </p:cNvSpPr>
          <p:nvPr/>
        </p:nvSpPr>
        <p:spPr>
          <a:xfrm>
            <a:off x="7258050" y="3914775"/>
            <a:ext cx="985838" cy="142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00" b="0">
                <a:solidFill>
                  <a:srgbClr val="E8E8E8"/>
                </a:solidFill>
                <a:latin typeface="Avenir Next"/>
                <a:ea typeface="Avenir Next"/>
                <a:cs typeface="Avenir Next"/>
              </a:defRPr>
            </a:pPr>
            <a:r>
              <a:rPr lang="en-US" sz="450">
                <a:solidFill>
                  <a:srgbClr val="E8E8E8"/>
                </a:solidFill>
                <a:latin typeface="Avenir Next"/>
                <a:ea typeface="Avenir Next"/>
                <a:cs typeface="Avenir Next"/>
              </a:rPr>
              <a:t>after $500 deductible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1D2DBD9-5969-40E1-83AC-5289845021E8}"/>
              </a:ext>
            </a:extLst>
          </p:cNvPr>
          <p:cNvSpPr>
            <a:spLocks noGrp="1"/>
          </p:cNvSpPr>
          <p:nvPr/>
        </p:nvSpPr>
        <p:spPr>
          <a:xfrm>
            <a:off x="414338" y="4857750"/>
            <a:ext cx="8315325" cy="7144"/>
          </a:xfrm>
          <a:prstGeom prst="rect">
            <a:avLst/>
          </a:prstGeom>
          <a:solidFill>
            <a:srgbClr val="1A1F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2125357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76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20624" y="1769364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3803904" y="2866644"/>
            <a:ext cx="146304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76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multi-agent pattern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58952"/>
            <a:ext cx="914400" cy="228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85104" y="868680"/>
            <a:ext cx="8293136" cy="3515868"/>
          </a:xfrm>
          <a:prstGeom prst="rect">
            <a:avLst/>
          </a:prstGeom>
          <a:solidFill>
            <a:srgbClr val="1A1F2E"/>
          </a:solidFill>
          <a:ln w="6350">
            <a:solidFill>
              <a:srgbClr val="2B3142"/>
            </a:solidFill>
          </a:ln>
        </p:spPr>
        <p:txBody>
          <a:bodyPr wrap="square" lIns="635" tIns="635" rIns="635" bIns="635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╭────────────────────────────╮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│  Customer Rep — Web UI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│  (Streamlit + Python) 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╰─────────────┬──────────────╯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│ POST /responses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│ (Bearer token)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▼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╔══════════════════════════════════════════╗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║   MASTER AGENT  ·  Microsoft Foundry     ║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║   "insurance-claims-triage"  (gpt-4.1)   ║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║   Microsoft Agent Framework / Responses  ║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╚══╤══════════╤══════════════╤═════════╤═══╝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│          │              │    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▼          ▼              ▼         ▼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┌─────────┐  ┌────────┐   ┌─────────┐  ┌──────┐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│  VSS    │  │ Policy │   │ Repair  │  │Claim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│ SUB-AGT │  │   DB   │   │  Cost   │  │ PDF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│  (AKS)  │  │(mock)  │   │ Engine  │  │ 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│ cosmos- │  └────────┘   └─────────┘  └──────┘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│reason2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│ (8B VLM)│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└─────────┘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▲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│ /chat/stream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VSS = the only sub-agent doing work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GPT can't do alone (multi-modal,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long-video understanding, on-prem)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Claims Triage · Slide 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76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topology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58952"/>
            <a:ext cx="914400" cy="228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868680"/>
            <a:ext cx="8412480" cy="3611880"/>
          </a:xfrm>
          <a:prstGeom prst="rect">
            <a:avLst/>
          </a:prstGeom>
          <a:solidFill>
            <a:srgbClr val="1A1F2E"/>
          </a:solidFill>
          <a:ln w="6350">
            <a:solidFill>
              <a:srgbClr val="2B3142"/>
            </a:solidFill>
          </a:ln>
        </p:spPr>
        <p:txBody>
          <a:bodyPr wrap="square" lIns="635" tIns="635" rIns="635" bIns="635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┌────────────────────────────────────────────────────────────────────┐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Azure subscription · csp-sa-gtm-azure (7d5234cf-…)            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                                           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┌──────────────────────────────┐   ┌───────────────────────────┐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Region: North Central US     │   │ Region: West Europe      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rg-insurance-claims-…-dev    │   │ rg-azeltov-vss-build-nc96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                             │   │                          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┌──────────────────────────┐ │   │ ┌───────────────────────┐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│ Foundry Project          │ │   │ │ AKS Cluster (aks-vss) │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│ ai-project-insurance-… ──┼─┼──▶│ │  • 1× NC96ads_A100_v4 │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│                          │ │   │ │     (4× A100 80GB)    │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│ ┌──────────────────────┐ │ │   │ │  • ingress-nginx LB   │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│ │ Hosted Agent (cont.) │ │ │   │ │     104.45.71.11      │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│ │ insurance-claims-tr… │ │ │   │ │                       │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│ │ gpt-4.1 (Std, 50TPM) │ │ │   │ │ ┌───────────────────┐ │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│ └──────────────────────┘ │ │   │ │ │ VSS LVS chart     │ │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│ ACR · ai-…/crrux2wabb…   │ │   │ │ │ vss-agent         │ │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│ App Insights · appi-…    │ │   │ │ │ cosmos-reason2-8b │ │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└──────────────────────────┘ │   │ │ │ nemotron-nano-9b  │ │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                             │   │ │ │ lvs-server, VST,  │ │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 ~110ms RTT cross-region   ──┼───┼─│ │ ES + Kibana       │ │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└──────────────────────────────┘   │ │ └───────────────────┘ │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                 │ └───────────────────────┘ │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                 └───────────────────────────┘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└────────────────────────────────────────────────────────────────────┘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Cross-region (NCUS Foundry ↔ WEU AKS) adds ~110ms RTT per VSS call. Acceptable for demo; co-locate for production.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Claims Triage · Slide 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76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sequence — one claim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58952"/>
            <a:ext cx="914400" cy="228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868680"/>
            <a:ext cx="8412480" cy="3611880"/>
          </a:xfrm>
          <a:prstGeom prst="rect">
            <a:avLst/>
          </a:prstGeom>
          <a:solidFill>
            <a:srgbClr val="1A1F2E"/>
          </a:solidFill>
          <a:ln w="6350">
            <a:solidFill>
              <a:srgbClr val="2B3142"/>
            </a:solidFill>
          </a:ln>
        </p:spPr>
        <p:txBody>
          <a:bodyPr wrap="square" lIns="635" tIns="635" rIns="635" bIns="635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      Streamlit       VSS Agent         Foundry Agent      Local PDF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             │                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upload     │              │                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video ────▶│              │                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POST          │               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/api/v1/videos│               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│──────────────▶│               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│◀─ presigned URL               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PUT bytes    │                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│──────────────▶│  (video → VST)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             │                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 POST /responses              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│──────────────────────────────────▶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                              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           ┌─────────────────────┤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tool calls │ vss_analyze_video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           │ ────▶ POST       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           │      /chat/stream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           │ ◀──── prose      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           │ lookup_policy    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           │ estimate_repair  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           │ draft_claim_pdf  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           └─────────────────────┤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                                 │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│◀── summary text ─────────────────┤ 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regex parse                       │              │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 render PDF locally               │ ──────────────▶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         │◀────────── PDF bytes ─────────────────────────────┤</a:t>
            </a:r>
            <a:endParaRPr lang="en-US" sz="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│◀── preview │                                                  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timing: ~5-10s upload, ~30-60s agent loop (VSS analysis dominates), &lt;1s PDF render. Total ~45-75s per claim.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Claims Triage · Slide 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76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VSS sub-agent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58952"/>
            <a:ext cx="914400" cy="228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868680"/>
            <a:ext cx="8412480" cy="3611880"/>
          </a:xfrm>
          <a:prstGeom prst="rect">
            <a:avLst/>
          </a:prstGeom>
          <a:solidFill>
            <a:srgbClr val="1A1F2E"/>
          </a:solidFill>
          <a:ln w="6350">
            <a:solidFill>
              <a:srgbClr val="2B3142"/>
            </a:solidFill>
          </a:ln>
        </p:spPr>
        <p:txBody>
          <a:bodyPr wrap="square" lIns="635" tIns="635" rIns="635" bIns="635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vss_analyze_video(video_id, question)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▼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┌─────────────────────────────────────────────┐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│  vss-agent (LVS profile, NeMo Agent Toolkit)│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│  Receives chat → plans → calls inner tools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└──┬───────────────┬──────────────┬───────────┘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│               │         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▼               ▼              ▼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┌─────────┐    ┌────────────┐  ┌────────────┐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│ VST     │    │ lvs_video_ │  │ video_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│ (video  │    │ understand │  │ understand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│ store)  │    │  ▶ lvs-srv │  │  ▶ NIM VLM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└─────────┘    └─────┬──────┘  └─────┬──────┘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│           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▼                ▼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┌────────────────────────────┐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│ cosmos-reason2-8b (NIM)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│  • VLM, vision encoder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│  • TRT-LLM engine     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│  • 1× A100 80GB       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└────────────────────────────┘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▼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┌────────────────────────────┐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│ nemotron-nano-9b-v2 (NIM)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│  • LLM for synthesis  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│  • TRT-LLM engine     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│  • 1× A100 80GB       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└────────────────────────────┘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│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▼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◀── plain-English damage analysis ──</a:t>
            </a:r>
            <a:endParaRPr lang="en-US" sz="9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(with &lt;agent-think&gt; stripped)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VSS is itself a multi-step agent. The master calls VSS as one tool; VSS internally chains VLM → LLM → storage. That nested architecture is what makes VSS hard to replicate with raw GPT-vision.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Claims Triage · Slide 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76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VSS belongs as a sub-agent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58952"/>
            <a:ext cx="914400" cy="228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68680"/>
          <a:ext cx="8412480" cy="2688336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GPT-vision alone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VSS LVS sub-agent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30-second damage clip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(overkill for the size)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90-minute drone / body-cam footage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budget blown after a few frames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Designed for it (LVS profile)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1000s of indexed videos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persistent index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Elasticsearch backend, sub-second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RTSP camera feeds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supported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rtvi-vlm subchart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sovereignty (no upstream OpenAI)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Sends to Azure OpenAI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 AKS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at scale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per token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 GPU cost, marginal ≈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20624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this insurance demo specifically, VSS is overkill. The architecture is reusable for stronger use cases — drone pipeline inspection, body-cam review, multi-camera retail analytics — where GPT-vision is structurally incapable.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Claims Triage · Slide 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76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flow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58952"/>
            <a:ext cx="914400" cy="228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114300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1161288"/>
            <a:ext cx="777240" cy="777240"/>
          </a:xfrm>
          <a:prstGeom prst="ellipse">
            <a:avLst/>
          </a:prstGeom>
          <a:solidFill>
            <a:srgbClr val="76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16128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F1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691640" y="10972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customer policy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91640" y="146304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sidebar → select POL-2025-44912 (Alex Romero / 2022 Camry). JSON expander shows the full policy record — coverage tier, deductible, contact email.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8412480" cy="114300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0080" y="2441448"/>
            <a:ext cx="777240" cy="777240"/>
          </a:xfrm>
          <a:prstGeom prst="ellipse">
            <a:avLst/>
          </a:prstGeom>
          <a:solidFill>
            <a:srgbClr val="76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4414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F1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691640" y="2377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damage video &amp; submit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274320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data/302857.mp4 (Pexels wrecked-car clip) into the uploader. Click Submit. Status panel shows: 📤 upload → 🤖 agent → ✅ done.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3520440"/>
            <a:ext cx="8412480" cy="114300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40080" y="3721608"/>
            <a:ext cx="777240" cy="777240"/>
          </a:xfrm>
          <a:prstGeom prst="ellipse">
            <a:avLst/>
          </a:prstGeom>
          <a:solidFill>
            <a:srgbClr val="76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372160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F12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691640" y="3657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trace in the Foundry portal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402336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agent playground in a parallel window. Each tool call (vss_analyze_video → lookup_policy → estimate_repair_cost → draft_claim_pdf) appears live with input/output and latency.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Claims Triage · Slide 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76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58952"/>
            <a:ext cx="914400" cy="228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68680"/>
          <a:ext cx="8412480" cy="2962656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76B9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E8E8E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Streamlit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Python-only, file upload + PDF preview built-in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76B9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 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E8E8E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Microsoft Agent Framework + gpt-4.1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Responses API native, @tool decorator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76B9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runtime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E8E8E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Microsoft Foundry (preview)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Scale-to-zero containers, App Insights traces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76B9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infra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E8E8E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Container Registry + ACR Tasks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build, no local Docker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76B9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E8E8E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NVIDIA VSS LVS profile on AKS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Long-video summarization, multimodal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76B9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E8E8E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4× A100 80GB (NC96ads_A100_v4)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node holds cosmos + nemotron + lvs-server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76B9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E8E8E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azd ai agent (v0.1.31-preview)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One-command provision + deploy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9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76B9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E8E8E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policies.json (mock)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Stand-in for Salesforce / Dynamics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Claims Triage · Slide 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76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58952"/>
            <a:ext cx="914400" cy="228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105156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91440" cy="10515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14300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polish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150876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 to Blob Storage (replaces local re-render in UI). Real CRM connector. Adjuster handoff via Logic Apps.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240280"/>
            <a:ext cx="8412480" cy="105156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91440" cy="10515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demos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26974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 to drone pipeline inspection or warehouse incident reconstruction. Architecture reuses ~80%; only the business tools swap.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429000"/>
            <a:ext cx="8412480" cy="105156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65760" y="3429000"/>
            <a:ext cx="91440" cy="10515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352044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evaluation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388620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 production traces from App Insights into Foundry eval datasets. Run prompt-optimizer on instructions.md.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Claims Triage · Slide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8566</TotalTime>
  <Words>1780</Words>
  <Application>Microsoft Macintosh PowerPoint</Application>
  <PresentationFormat>On-screen Show (16:9)</PresentationFormat>
  <Paragraphs>288</Paragraphs>
  <Slides>12</Slides>
  <Notes>12</Notes>
  <HiddenSlides>8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Avenir Next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NVIDIA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Insurance Claims Triage — Multi-Agent Demo</dc:title>
  <dc:subject>PptxGenJS Presentation</dc:subject>
  <dc:creator>Alex Zeltov</dc:creator>
  <cp:lastModifiedBy>Alexander Zeltov</cp:lastModifiedBy>
  <cp:revision>3</cp:revision>
  <dcterms:created xsi:type="dcterms:W3CDTF">2026-05-16T12:26:12Z</dcterms:created>
  <dcterms:modified xsi:type="dcterms:W3CDTF">2026-05-28T15:24:11Z</dcterms:modified>
</cp:coreProperties>
</file>